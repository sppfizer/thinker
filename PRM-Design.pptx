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2194560"/>
          </a:xfrm>
          <a:prstGeom prst="rect">
            <a:avLst/>
          </a:prstGeom>
          <a:solidFill>
            <a:srgbClr val="05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B4D8"/>
                </a:solidFill>
              </a:rPr>
              <a:t>🧠  Physical Routing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375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AE9FF"/>
                </a:solidFill>
              </a:rPr>
              <a:t>PRM  —  A non-neural-network language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557799"/>
                </a:solidFill>
              </a:rPr>
              <a:t>Forward-only training · No backpropagation · Physics-based routing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66344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7799"/>
                </a:solidFill>
              </a:rPr>
              <a:t>sppfizer  +  GitHub Copilot  ·  2026-07-08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01  Why Not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AE9FF"/>
                </a:solidFill>
              </a:rPr>
              <a:t>Goal: a language model that trains fast, forward-only, with no backpropagation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2468879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53312"/>
            <a:ext cx="2377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Classical NN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1325880"/>
            <a:ext cx="31089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13533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What We Reject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49377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533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Why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83080"/>
            <a:ext cx="2468879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37943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Backpropagation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783080"/>
            <a:ext cx="3108960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83794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Two-phase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783080"/>
            <a:ext cx="4937760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37943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Forward pass stores all activations; backward pass expensive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86000"/>
            <a:ext cx="2468879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340864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Gradient descent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2286000"/>
            <a:ext cx="3108960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234086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Global loss computation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286000"/>
            <a:ext cx="4937760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34086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Must finish full pass before any weight update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788920"/>
            <a:ext cx="2468879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843784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Learned 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0" y="2788920"/>
            <a:ext cx="3108960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284378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Separate pre-training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788920"/>
            <a:ext cx="4937760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84378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Extra cost just to encode token identity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291840"/>
            <a:ext cx="2468879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346704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Attention matrices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17520" y="3291840"/>
            <a:ext cx="3108960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334670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O(n²) dot-product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291840"/>
            <a:ext cx="4937760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34670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Quadratic cost for every token-pair relationship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251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500"/>
                </a:solidFill>
              </a:rPr>
              <a:t>✦  Instead: one forward pass, the correct answer acts as a magnet guiding the model in real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02  The Nail Grid Metaphor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48640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Physical Object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71323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Represents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1323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Role in PRM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78992"/>
            <a:ext cx="5486400" cy="402336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33856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33856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13385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Unit of meaning in input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517904"/>
            <a:ext cx="5486400" cy="402336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572768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Ball size/mass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572768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Token frequency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157276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Pre-computed weight — not learned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956815"/>
            <a:ext cx="5486400" cy="402336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011679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Nail tilt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011679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Routing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2011679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Primary learned parameter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395728"/>
            <a:ext cx="5486400" cy="402336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450592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Nail diameter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2450592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Routing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245059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Resistance to being nudged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834639"/>
            <a:ext cx="5486400" cy="402336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2889503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Magnet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0280" y="2889503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Correct output token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2889503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Forward correction force during training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273552"/>
            <a:ext cx="5486400" cy="402336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328416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Vocab slot width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3328416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Token frequency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32841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Built-in language prior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685800"/>
            <a:ext cx="5669280" cy="530352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7498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INPUT TOKENS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06070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● ●● ○ ● 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1371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↓ ↓↓ ↓ ↓ 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1682495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╔═══════════╗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9933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║ ⊕ ⊕ ⊕ ⊕ ║ ← nails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3042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║  ⊕ ⊕ ⊕  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61518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║ ⊕ ⊕ ⊕ ⊕ 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9260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║  ⊕ ⊕ ⊕  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323697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╚═══════════╝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54787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A500"/>
                </a:solidFill>
              </a:rPr>
              <a:t>  [the][a][cat]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385876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▓▓▓  ▓  ▓▓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16966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wide  sm  med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480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79145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⬛ = magnet (training)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510235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● = heavy ball (freq)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54132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○ = light ball (rare)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03  Token Interaction — Physics Between Balls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85800"/>
            <a:ext cx="5577840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🌌  Gravitational Attraction  (long range)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All balls pull each other: F ∝ mass × proximity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Heavier balls exert stronger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9280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Naturally clusters semantically related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677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"Paris" curves toward "France" without 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42615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learned attention matrix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175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7799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9242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Creates semantic neighbourhoods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6732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purely from physics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685800"/>
            <a:ext cx="557784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71323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💥  Elastic Collision  (short range)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1430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When ball paths cross → they collide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51790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Larger ball deflects less (more inertia)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89280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Smaller ball deflects more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677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Dominant tokens (subject, verb) steer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642615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weaker tokens (prepositions, fillers)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0175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7799"/>
                </a:solidFill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9242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Creates natural token dominance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76732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hierarchy — no learned weights needed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475488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5760" y="48463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AE9FF"/>
                </a:solidFill>
              </a:rPr>
              <a:t>Prediction Slot Ball  →  zero-mass ball dropped at 'next token' position.  Gets shaped entirely by context balls.  Where it lands = the predicted token.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5376672"/>
            <a:ext cx="5760720" cy="384048"/>
          </a:xfrm>
          <a:prstGeom prst="rect">
            <a:avLst/>
          </a:prstGeom>
          <a:solidFill>
            <a:srgbClr val="05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404104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4D8"/>
                </a:solidFill>
              </a:rPr>
              <a:t>Physical analog of the Transformer Query vector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04  Forward-Only Training — The Magnet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303520" cy="502920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76F"/>
                </a:solidFill>
              </a:rPr>
              <a:t>Classical Backpropagation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70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① Full forward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② Store ALL intermediate activations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385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③ Compute global loss at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2257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④ Propagate gradients BACKWARD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0662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through every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090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⑤ Update 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8587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→ Two phases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24281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→ Memory: O(depth × batch)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62686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→ No update until pass completes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685800"/>
            <a:ext cx="5669280" cy="5029200"/>
          </a:xfrm>
          <a:prstGeom prst="rect">
            <a:avLst/>
          </a:prstGeom>
          <a:solidFill>
            <a:srgbClr val="05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731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D6A0"/>
                </a:solidFill>
              </a:rPr>
              <a:t>PRM Forward Magnetic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17043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① Drop balls + prediction slot ball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51790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② Magnet at target slot — force felt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653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through entire diamond depth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21284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③ Each nail updates AS ball passes: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60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907791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A500"/>
                </a:solidFill>
              </a:rPr>
              <a:t>   tilt += mass × magnet_force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25526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A500"/>
                </a:solidFill>
              </a:rPr>
              <a:t>           × (1 / diameter)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6027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95020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→ ONE phase — update is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29768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→ Memory: O(1) per nail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645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→ Rare answer = stronger magnet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99262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= larger update = learns harder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05  Diamond Grid Shape — Think · Mix · Summarize · Forget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029200" cy="557784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● ● ○ ● ●    ← input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25295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┌──────────┐  ← narrow entry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73352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│ ⊕ ⊕ ⊕  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21408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A500"/>
                </a:solidFill>
              </a:rPr>
              <a:t>   /  ⊕⊕⊕  \   WIDENING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69464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/  ⊕⊕⊕⊕   \  (divergent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17520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/  ⊕⊕⊕⊕⊕   \ thinking)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65576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A500"/>
                </a:solidFill>
              </a:rPr>
              <a:t>  \  ⊕⊕⊕⊕  /   NARROWING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13631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\  ⊕⊕⊕  /   (summarizing)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361688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│ ⊕ ⊕ ⊕  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09744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└──────────┘  ← narrow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257800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[the][a][cat] ← vocab slots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685800"/>
            <a:ext cx="6217920" cy="169164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685800"/>
            <a:ext cx="621792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7223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Open Borders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1097280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Balls drifting to edge fall 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14081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= natural information pruning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1719072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Replaces: dropout, regularisation,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2029967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  attention masking — all emergent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77840" y="2514600"/>
            <a:ext cx="6217920" cy="169164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77840" y="2514600"/>
            <a:ext cx="6217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25511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W:N Ratio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2926080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Widening : Narrowing rows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32369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1:1 = balanced think/summarize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547872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3:1 = deep exploration (creative)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3858768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1:3 = quick spread, long focus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4343400"/>
            <a:ext cx="6217920" cy="169164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77840" y="4343400"/>
            <a:ext cx="6217920" cy="34747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0" y="43799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Memory ∝ 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4754880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More rows = more nails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50657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More nails = more learned routing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5376672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= higher context capacity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5687568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Open borders keep output clean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06A  Visual Mechanics — Balls, Nails, Magnet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77240"/>
            <a:ext cx="3611880" cy="544068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777240"/>
            <a:ext cx="361188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8229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Ball size = token weight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777240"/>
            <a:ext cx="3886200" cy="544068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69080" y="777240"/>
            <a:ext cx="3886200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822960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Nail thickness = bias/stability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777240"/>
            <a:ext cx="3703320" cy="544068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0" y="777240"/>
            <a:ext cx="3703320" cy="365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822960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Magnet follows the diamond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234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</a:rPr>
              <a:t>BIG BALL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50876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A500"/>
                </a:solidFill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5146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AE9FF"/>
                </a:solidFill>
              </a:rPr>
              <a:t>heavy token
high frequency
stronger pull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1234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SMALL BALL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50876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06D6A0"/>
                </a:solidFill>
              </a:rP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5146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AE9FF"/>
                </a:solidFill>
              </a:rPr>
              <a:t>rare token
low frequency
lighter path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49039"/>
            <a:ext cx="3017520" cy="1005840"/>
          </a:xfrm>
          <a:prstGeom prst="rect">
            <a:avLst/>
          </a:prstGeom>
          <a:solidFill>
            <a:srgbClr val="0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58768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Massive balls hit nails harder
and influence routing more.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1234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</a:rPr>
              <a:t>THICK NAIL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150876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 i="0">
                <a:solidFill>
                  <a:srgbClr val="FFA500"/>
                </a:solidFill>
              </a:rPr>
              <a:t>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606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AE9FF"/>
                </a:solidFill>
              </a:rPr>
              <a:t>high bias
stable routing
hard to move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234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THIN NAIL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1508760"/>
            <a:ext cx="822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 i="0">
                <a:solidFill>
                  <a:srgbClr val="06D6A0"/>
                </a:solidFill>
              </a:rPr>
              <a:t>|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60604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AE9FF"/>
                </a:solidFill>
              </a:rPr>
              <a:t>low bias
flexible routing
easy to nudge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3749039"/>
            <a:ext cx="3474720" cy="1005840"/>
          </a:xfrm>
          <a:prstGeom prst="rect">
            <a:avLst/>
          </a:prstGeom>
          <a:solidFill>
            <a:srgbClr val="0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858768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Thicker nails resist change.
Thinner nails learn faster.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1234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WIDEN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508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</a:rPr>
              <a:t>↙  ↓  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1945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</a:rPr>
              <a:t>MID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A500"/>
                </a:solidFill>
              </a:rPr>
              <a:t>←  ←  ↓  →  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1546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NARROW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4290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6D6A0"/>
                </a:solidFill>
              </a:rPr>
              <a:t>↘  ↓  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0" y="4114800"/>
            <a:ext cx="2560320" cy="868680"/>
          </a:xfrm>
          <a:prstGeom prst="rect">
            <a:avLst/>
          </a:prstGeom>
          <a:solidFill>
            <a:srgbClr val="052845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0" y="422452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Magnet fans outward
then focuses inward
to the target slot.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57200" y="635508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65760" y="64008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AE9FF"/>
                </a:solidFill>
              </a:rPr>
              <a:t>Visual rule:  big ball + thick nail + focused magnet path = stronger, more stable routing signal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07  Role-Based Specialist Diamonds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A500"/>
                </a:solidFill>
              </a:rPr>
              <a:t>Specialists are trained on cognitive ROLES, not knowledge domains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94960" cy="34747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1615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❌  Category Specialist  (brittle)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188720"/>
            <a:ext cx="58521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216152"/>
            <a:ext cx="5669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✅  Role Specialist  (generalises)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00200"/>
            <a:ext cx="5394960" cy="420624"/>
          </a:xfrm>
          <a:prstGeom prst="rect">
            <a:avLst/>
          </a:prstGeom>
          <a:solidFill>
            <a:srgbClr val="20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733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Trained on: science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600200"/>
            <a:ext cx="5852160" cy="420624"/>
          </a:xfrm>
          <a:prstGeom prst="rect">
            <a:avLst/>
          </a:prstGeom>
          <a:solidFill>
            <a:srgbClr val="052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673352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Trained on: analytical content across ALL domains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057400"/>
            <a:ext cx="5394960" cy="420624"/>
          </a:xfrm>
          <a:prstGeom prst="rect">
            <a:avLst/>
          </a:prstGeom>
          <a:solidFill>
            <a:srgbClr val="180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305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Fails on: new science not in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057400"/>
            <a:ext cx="5852160" cy="420624"/>
          </a:xfrm>
          <a:prstGeom prst="rect">
            <a:avLst/>
          </a:prstGeom>
          <a:solidFill>
            <a:srgbClr val="031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130552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Generalises to: any task requiring analytical thinking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514600"/>
            <a:ext cx="5394960" cy="420624"/>
          </a:xfrm>
          <a:prstGeom prst="rect">
            <a:avLst/>
          </a:prstGeom>
          <a:solidFill>
            <a:srgbClr val="20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877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Router asks: "what topic is this?"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514600"/>
            <a:ext cx="5852160" cy="420624"/>
          </a:xfrm>
          <a:prstGeom prst="rect">
            <a:avLst/>
          </a:prstGeom>
          <a:solidFill>
            <a:srgbClr val="052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2587752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Router asks: "what thinking style is needed?"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971800"/>
            <a:ext cx="5394960" cy="420624"/>
          </a:xfrm>
          <a:prstGeom prst="rect">
            <a:avLst/>
          </a:prstGeom>
          <a:solidFill>
            <a:srgbClr val="180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449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Brittle at domain borders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2971800"/>
            <a:ext cx="5852160" cy="420624"/>
          </a:xfrm>
          <a:prstGeom prst="rect">
            <a:avLst/>
          </a:prstGeom>
          <a:solidFill>
            <a:srgbClr val="031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3044952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Robust — roles transfer across all domains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356616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74320" y="3703320"/>
            <a:ext cx="1161288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7307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Role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73075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W:N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3075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Nail 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730752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Cognitive Style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114800"/>
            <a:ext cx="1161288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16966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Analyst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169663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1:1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416966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Thick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169663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Logical, step-by-step deduction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526280"/>
            <a:ext cx="11612880" cy="384048"/>
          </a:xfrm>
          <a:prstGeom prst="rect">
            <a:avLst/>
          </a:prstGeom>
          <a:solidFill>
            <a:srgbClr val="08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58114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Generator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458114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3:1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58114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Thin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581144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Creative, broad exploration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937760"/>
            <a:ext cx="1161288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99262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Synthesizer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08960" y="499262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1:3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99262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992624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Compression, abstraction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349240"/>
            <a:ext cx="11612880" cy="384048"/>
          </a:xfrm>
          <a:prstGeom prst="rect">
            <a:avLst/>
          </a:prstGeom>
          <a:solidFill>
            <a:srgbClr val="08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40410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Precisionist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0" y="5404103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1:4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540410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V.Thick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404103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Exact recall, minimal inference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760720"/>
            <a:ext cx="1161288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581558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Narrator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8960" y="5815583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2:2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581558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Mixed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0" y="5815583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Sequential explanation, teaching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6172200"/>
            <a:ext cx="11612880" cy="384048"/>
          </a:xfrm>
          <a:prstGeom prst="rect">
            <a:avLst/>
          </a:prstGeom>
          <a:solidFill>
            <a:srgbClr val="08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22706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Conversationalist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08960" y="622706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2:1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22706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Thin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6227064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Context-aware, tone-matching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08  Routing Strategy — Selecting the Right Specialist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85800"/>
            <a:ext cx="5577840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Parallel  (≤ 3 specialists)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Run all N diamonds simultaneously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Same input tokens → each specialist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9397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Winner = highest retained ball-mass 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9464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(balls falling off = out-of-role signal)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4495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Cost: N ×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Best when N is small (2–3)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023360"/>
            <a:ext cx="5577840" cy="347472"/>
          </a:xfrm>
          <a:prstGeom prst="rect">
            <a:avLst/>
          </a:prstGeom>
          <a:solidFill>
            <a:srgbClr val="0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050791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AE9FF"/>
                </a:solidFill>
              </a:rPr>
              <a:t>ℹ  retained mass =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685800"/>
            <a:ext cx="557784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71323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Pre-Selector Diamond  (&gt; 3 specialists)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14300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Small routing diamond runs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1848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Output slots = specialist IDs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9397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Slot width ∝ activation frequency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69464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Winner gets input re-dropped identically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04495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Cost: R + S   (R ≈ 0.3 × S typically)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2044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Best when N &gt; (R/S) + 1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5577840" cy="347472"/>
          </a:xfrm>
          <a:prstGeom prst="rect">
            <a:avLst/>
          </a:prstGeom>
          <a:solidFill>
            <a:srgbClr val="0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050791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AE9FF"/>
                </a:solidFill>
              </a:rPr>
              <a:t>ℹ  soft routing: border landing → two specialists activate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457200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5760" y="4663440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7799"/>
                </a:solidFill>
              </a:rPr>
              <a:t>EM Bootstrap (no labels):  train all specialists blindly → measure winner per sample → auto-label → train router → iterate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12064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A500"/>
                </a:solidFill>
              </a:rPr>
              <a:t>Manual role labeling recommended for production — role = cognitive style, not topic domain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09  Mathematical Formulation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11612880" cy="5349240"/>
          </a:xfrm>
          <a:prstGeom prst="rect">
            <a:avLst/>
          </a:prstGeom>
          <a:solidFill>
            <a:srgbClr val="05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777240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832103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832103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Ball i at row r:   (x_i,  v_i,  m_i)   — position, velocity, mass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25295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280160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Nail (r,c):        tilt ∈ [-1,1]   ·   diameter ∈ (0,1]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73352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728216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Deflection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728216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Δx_i  =  tilt[r,c]  ·  α  /  m_i          (inertia: heavier → less deflect)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121408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176272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Gravity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176272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F_ij  =  G · m_i · m_j / (|x_i−x_j|² + ε)   for all pairs  i≠j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569464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62432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Collision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2624328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if |x_i−x_j| &lt; r_c:  Δv = elastic_exchange(m_i, m_j, v_i, v_j)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017520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072384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Diamond border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3072384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width(r)  =  w_0 + r·e   [r≤W]     width(r)  =  w_max − (r−W)·c   [r&gt;W]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465576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20440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Ball exits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3520440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if  x_i &lt; left(r)  or  x_i &gt; right(r):  remove ball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913631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968495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Magnet field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3968495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f(r,x,T)  =  (T−x) · phase_scale(r)      [fan out in W, focus in N]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361688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416551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Nail update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416551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tilt[r,c] += η · m_i · f(r, x_i, target) · (1 / diameter[r,c])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809744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864607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4864607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score[slot]  =  Σ_i  m_i · 𝟙[x_i ∈ slot_range]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257800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312664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Winner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312664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ŷ  =  argmax( score 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10  GPU / CPU Parallelism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5760720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71323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GPU  — Massively Parallel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18872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Ball trajectories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52704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Each ball = one thread. All balls in same row computed in parallel.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10312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2148839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Nail updates (per row)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48716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All nails in same row are independent. SIMD vectorise across columns.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06324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10896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Ball-ball gravity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344728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Sparse distance matrix; compute only within proximity band. O(n·k) not O(n²).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02336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406908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Output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440740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Parallel reduce: each thread accumulates mass into slot bin.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8348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0292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Batching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536752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Multiple training samples run simultaneously — each sample is one warp.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79" y="685800"/>
            <a:ext cx="57607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19" y="71323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CPU  — Sequential / SIMD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79" y="114300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19" y="118872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Vocabulary 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19" y="152704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Pre-training frequency count. Single pass over corpus. Parallel file reads.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79" y="210312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19" y="2148839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Nail init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19" y="248716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Random or frequency-informed tilt init. One-time cost.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79" y="306324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19" y="310896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Router diamond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344728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Shallower grid. Runs on CPU between GPU specialist calls.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79" y="402336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19" y="406908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Checkpointing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440740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Nail state saved to disk after each epoch. Nail arrays are just float matrices.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79" y="498348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19" y="50292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Validation metrics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19" y="536752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Accuracy, ball-mass retention ratio — simple scalar ops.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7200" y="617220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65760" y="62362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6D6A0"/>
                </a:solidFill>
              </a:rPr>
              <a:t>Key advantage:  no activation graph storage (no backprop) → GPU memory is used only for nail state + ball positions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11  C# Application — PRM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2834640" cy="38404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71323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🏋 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15568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1612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Forward pass per sample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6184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Nail tilt += magnetic update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29967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20756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Ball-ball physics active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25328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Periodic checkpoint save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685800"/>
            <a:ext cx="2834640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71323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🧪  Test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115568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11612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Forward pass, no updates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15727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16184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Accuracy = winner == label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029967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0756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Ball-mass retention reported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24871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25328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No magnet active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685800"/>
            <a:ext cx="283464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71323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🎛  Tune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1115568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79" y="11612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Like Training, lower 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5727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79" y="16184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Small fine-tune dataset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029967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20756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Specialist role refinement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4871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79" y="25328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Preserve thick-nail routes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35440" y="685800"/>
            <a:ext cx="2834640" cy="384048"/>
          </a:xfrm>
          <a:prstGeom prst="rect">
            <a:avLst/>
          </a:prstGeom>
          <a:solidFill>
            <a:srgbClr val="CA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71323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✅  Val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1115568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11612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Validation set evaluation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15727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16184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Per-role retention ratio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2029967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20756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Perplexity equivalent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24871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25328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Outputs confusion matrix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57200" y="306324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65760" y="3154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Core Components: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66160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79" y="36758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VocabularyBuilder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97679" y="3566160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19" y="36758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DiamondGrid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75319" y="3566160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66759" y="36758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BallSimulator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4224528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79" y="433425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MagnetField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97679" y="4224528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19" y="433425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PRMEngine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75319" y="4224528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6759" y="433425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SpecialistRouter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57200" y="566928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65760" y="5742432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6D6A0"/>
                </a:solidFill>
              </a:rPr>
              <a:t>Inference (all modes):  diamond nails fixed → balls fall freely → winner slot = output.  No magnet, no updates.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12  Open Questions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486400" cy="34747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Open Design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Grid depth — does depth = abstraction level?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7276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Nail init — random, uniform, or frequency-informed?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4825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Force decay — how fast does gravity drop off?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23744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Collision elasticity — perfectly elastic or damped?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99923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Training stabilisation — prevent tilt explosion?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7472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Nail diameter — fixed or also learnable?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5020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How many roles cover most language tasks?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2569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Long context — distant tokens' gravity too weak?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685800"/>
            <a:ext cx="576072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71323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Next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097280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①  Formalise math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31673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Translate all physics to GPU-parallel matrix 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572768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②  C# PRM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79222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DiamondGrid + BallSimulator + MagnetField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04825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③  Training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26771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Single forward pass with live nail updates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2374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④  Vocabulary builder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743200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Frequency-ranked token table from corpus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99923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⑤  Small-scale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218688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Validate next-token prediction on tiny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474720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⑥  Role specialisation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69417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Train 2–3 role diamonds, compare output quality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3950208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⑦  GPU acceleration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16966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ILGPU or compute shaders for ball simulation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42569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⑧  Benchmark vs Transformer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64515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Training time &amp; accuracy at equivalent scale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B4D8"/>
                </a:solidFill>
              </a:rPr>
              <a:t>PRM  —  Physical Routing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CAE9FF"/>
                </a:solidFill>
              </a:rPr>
              <a:t>Tokens are balls.  The model is a grid of nails.  The answer is a magnet.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237744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56032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No backpropagation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175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Nails update locally as each ball passes — one forward phase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56032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No attention matrix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0175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Token relationships emerge from gravitational attraction + collision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9476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886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No positional encoding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2519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Ball entry x-position = sequence position — geometric and free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79476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886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Built-in language prior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519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Vocabulary slot width = frequency — common words easier to produce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2920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Natural sparsity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864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Irrelevant balls fall off diamond edges — no dropout needed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2920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1206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Role specialists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4864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Diamond geometry encodes cognitive style — generalises across domains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7799"/>
                </a:solidFill>
              </a:rPr>
              <a:t>github.com/sppfizer/thinker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