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05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B4D8"/>
                </a:solidFill>
              </a:rPr>
              <a:t>🧠  Physical Routing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37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AE9FF"/>
                </a:solidFill>
              </a:rPr>
              <a:t>PRM  —  A non-neural-network language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557799"/>
                </a:solidFill>
              </a:rPr>
              <a:t>Forward-only training · No backpropagation · Physics-based routing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4663440"/>
            <a:ext cx="11274552" cy="0"/>
          </a:xfrm>
          <a:prstGeom prst="line">
            <a:avLst/>
          </a:prstGeom>
          <a:ln w="127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7799"/>
                </a:solidFill>
              </a:rPr>
              <a:t>sppfizer  +  GitHub Copilot  · 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01  Why Not Neural Networks?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E9FF"/>
                </a:solidFill>
              </a:rPr>
              <a:t>Goal: a language model that trains fast, forward-only, with no backpropagation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468879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53312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Classical NN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325880"/>
            <a:ext cx="31089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3533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What We Reject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49377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533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Why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2468879" cy="43891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37943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Backpropagation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783080"/>
            <a:ext cx="3108960" cy="43891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837943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Two-phase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783080"/>
            <a:ext cx="4937760" cy="43891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3794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Forward pass stores all activations; backward pass expensive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86000"/>
            <a:ext cx="2468879" cy="438912"/>
          </a:xfrm>
          <a:prstGeom prst="rect">
            <a:avLst/>
          </a:prstGeom>
          <a:solidFill>
            <a:srgbClr val="0A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40864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Gradient descent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286000"/>
            <a:ext cx="3108960" cy="438912"/>
          </a:xfrm>
          <a:prstGeom prst="rect">
            <a:avLst/>
          </a:prstGeom>
          <a:solidFill>
            <a:srgbClr val="0A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34086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Global loss computation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286000"/>
            <a:ext cx="4937760" cy="438912"/>
          </a:xfrm>
          <a:prstGeom prst="rect">
            <a:avLst/>
          </a:prstGeom>
          <a:solidFill>
            <a:srgbClr val="0A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34086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Must finish full pass before any weight update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88920"/>
            <a:ext cx="2468879" cy="43891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843784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Learned embeddings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788920"/>
            <a:ext cx="3108960" cy="43891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284378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Separate pre-training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788920"/>
            <a:ext cx="4937760" cy="43891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8437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Extra cost just to encode token identity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91840"/>
            <a:ext cx="2468879" cy="438912"/>
          </a:xfrm>
          <a:prstGeom prst="rect">
            <a:avLst/>
          </a:prstGeom>
          <a:solidFill>
            <a:srgbClr val="0A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346704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Attention matrices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291840"/>
            <a:ext cx="3108960" cy="438912"/>
          </a:xfrm>
          <a:prstGeom prst="rect">
            <a:avLst/>
          </a:prstGeom>
          <a:solidFill>
            <a:srgbClr val="0A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33467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O(n²) dot-product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291840"/>
            <a:ext cx="4937760" cy="438912"/>
          </a:xfrm>
          <a:prstGeom prst="rect">
            <a:avLst/>
          </a:prstGeom>
          <a:solidFill>
            <a:srgbClr val="0A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34670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Quadratic cost for every token-pair relationship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251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500"/>
                </a:solidFill>
              </a:rPr>
              <a:t>✦  Instead: one forward pass, the correct answer acts as a magnet guiding the model in real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02  The Nail Grid Metaphor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54864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Physical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7132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Represents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132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Role in PRM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5486400" cy="40233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33856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133856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1338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Unit of meaning in 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17904"/>
            <a:ext cx="5486400" cy="402336"/>
          </a:xfrm>
          <a:prstGeom prst="rect">
            <a:avLst/>
          </a:prstGeom>
          <a:solidFill>
            <a:srgbClr val="0A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572768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Ball size/mass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572768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Token frequency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5727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Pre-computed weight — not learned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56815"/>
            <a:ext cx="5486400" cy="40233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11679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Nail tilt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011679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Routing 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011679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Primary learned parameter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95728"/>
            <a:ext cx="5486400" cy="402336"/>
          </a:xfrm>
          <a:prstGeom prst="rect">
            <a:avLst/>
          </a:prstGeom>
          <a:solidFill>
            <a:srgbClr val="0A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450592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Nail diameter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2450592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Routing bias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45059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Resistance to being nudged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34639"/>
            <a:ext cx="5486400" cy="40233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889503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Magnet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2889503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Correct output token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2889503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Forward correction force during training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273552"/>
            <a:ext cx="5486400" cy="402336"/>
          </a:xfrm>
          <a:prstGeom prst="rect">
            <a:avLst/>
          </a:prstGeom>
          <a:solidFill>
            <a:srgbClr val="0A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328416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Vocab slot width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3328416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Token frequency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32841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Built-in language prior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685800"/>
            <a:ext cx="5669280" cy="5303520"/>
          </a:xfrm>
          <a:prstGeom prst="rect">
            <a:avLst/>
          </a:prstGeom>
          <a:solidFill>
            <a:srgbClr val="0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7498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INPUT TOKENS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0607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● ●● ○ ● 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↓ ↓↓ ↓ ↓ 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682495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╔═══════════╗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19933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║ ⊕ ⊕ ⊕ ⊕ ║ ← nails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304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║  ⊕ ⊕ ⊕  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6151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║ ⊕ ⊕ ⊕ ⊕ 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926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║  ⊕ ⊕ ⊕  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2369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╚═══════════╝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547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500"/>
                </a:solidFill>
              </a:rPr>
              <a:t>  [the][a][cat]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8587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▓▓▓  ▓  ▓▓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1696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wide  sm  med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480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7914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⬛ = magnet (training)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1023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● = heavy ball (freq)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4132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○ = light ball (rare)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03  Token Interaction — Physics Between Balls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55778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🌌  Gravitational Attraction  (long range)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All balls pull each other: F ∝ mass × proximity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Heavier balls exert stronger pull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9280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Naturally clusters semantically related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"Paris" curves toward "France" without 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42615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 learned attention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7799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924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Creates semantic neighbourhoods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6732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 purely from physics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685800"/>
            <a:ext cx="557784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71323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💥  Elastic Collision  (short range)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When ball paths cross → they collide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5179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Larger ball deflects less (more inertia)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9280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Smaller ball deflects more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67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Dominant tokens (subject, verb) steer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42615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 weaker tokens (prepositions, fillers)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17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7799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924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Creates natural token dominance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76732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 hierarchy — no learned weights needed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4754880"/>
            <a:ext cx="11274552" cy="0"/>
          </a:xfrm>
          <a:prstGeom prst="line">
            <a:avLst/>
          </a:prstGeom>
          <a:ln w="127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5760" y="48463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AE9FF"/>
                </a:solidFill>
              </a:rPr>
              <a:t>Prediction Slot Ball  →  zero-mass ball dropped at 'next token' position.  Gets shaped entirely by context balls.  Where it lands = the predicted token.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5376672"/>
            <a:ext cx="5760720" cy="384048"/>
          </a:xfrm>
          <a:prstGeom prst="rect">
            <a:avLst/>
          </a:prstGeom>
          <a:solidFill>
            <a:srgbClr val="05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5404104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</a:rPr>
              <a:t>Physical analog of the Transformer Query vector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04  Forward-Only Training — The Magnet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5303520" cy="5029200"/>
          </a:xfrm>
          <a:prstGeom prst="rect">
            <a:avLst/>
          </a:prstGeom>
          <a:solidFill>
            <a:srgbClr val="0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76F"/>
                </a:solidFill>
              </a:rPr>
              <a:t>Classical Backpropagation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① Full forward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② Store ALL intermediate activations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③ Compute global loss at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225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④ Propagate gradients BACKWARD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066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 through every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0906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⑤ Update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58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→ Two phases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428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→ Memory: O(depth × batch)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6268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→ No update until pass completes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685800"/>
            <a:ext cx="5669280" cy="5029200"/>
          </a:xfrm>
          <a:prstGeom prst="rect">
            <a:avLst/>
          </a:prstGeom>
          <a:solidFill>
            <a:srgbClr val="05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PRM Forward Magnetic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17043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① Drop balls + prediction slot ball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5179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② Magnet at target slot — force felt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8653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 through entire diamond 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1284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③ Each nail updates AS ball passes: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56032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907791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500"/>
                </a:solidFill>
              </a:rPr>
              <a:t>   tilt += mass × magnet_force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25526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500"/>
                </a:solidFill>
              </a:rPr>
              <a:t>           × (1 / diameter)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60273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9502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D6A0"/>
                </a:solidFill>
              </a:rPr>
              <a:t>→ ONE phase — update is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29768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D6A0"/>
                </a:solidFill>
              </a:rPr>
              <a:t>→ Memory: O(1) per nail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64515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D6A0"/>
                </a:solidFill>
              </a:rPr>
              <a:t>→ Rare answer = stronger magnet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99262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 = larger update = learns harder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05  Diamond Grid Shape — Think · Mix · Summarize · Forget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5029200" cy="5577840"/>
          </a:xfrm>
          <a:prstGeom prst="rect">
            <a:avLst/>
          </a:prstGeom>
          <a:solidFill>
            <a:srgbClr val="0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● ● ○ ● ●    ← input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25295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┌──────────┐  ← narrow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73352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\       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21408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500"/>
                </a:solidFill>
              </a:rPr>
              <a:t>    \  ⊕⊕  /   WIDENING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9464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  \⊕⊕⊕/    (divergent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17520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   ⊕⊕⊕      thinking)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65576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  /⊕⊕⊕\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13631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500"/>
                </a:solidFill>
              </a:rPr>
              <a:t>    /  ⊕⊕  \   NARROWING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61688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/        \  (summarizing)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09744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└──────────┘  ← narrow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257800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[the][a][cat] ← vocab slots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685800"/>
            <a:ext cx="6217920" cy="1691640"/>
          </a:xfrm>
          <a:prstGeom prst="rect">
            <a:avLst/>
          </a:prstGeom>
          <a:solidFill>
            <a:srgbClr val="0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685800"/>
            <a:ext cx="621792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722376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Open Borders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097280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Balls drifting to edge fall 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408176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= natural information pruning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719072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Replaces: dropout, regularisation,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029967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  attention masking — all emergent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2514600"/>
            <a:ext cx="6217920" cy="1691640"/>
          </a:xfrm>
          <a:prstGeom prst="rect">
            <a:avLst/>
          </a:prstGeom>
          <a:solidFill>
            <a:srgbClr val="0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77840" y="2514600"/>
            <a:ext cx="6217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2551176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W:N Ratio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926080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Widening : Narrowing 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236976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1:1 = balanced think/summarize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547872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3:1 = deep exploration (creative)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858768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1:3 = quick spread, long focus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4343400"/>
            <a:ext cx="6217920" cy="1691640"/>
          </a:xfrm>
          <a:prstGeom prst="rect">
            <a:avLst/>
          </a:prstGeom>
          <a:solidFill>
            <a:srgbClr val="0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77840" y="4343400"/>
            <a:ext cx="6217920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0" y="4379976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Memory ∝ Depth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754880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More rows = more nails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065776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More nails = more learned routing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376672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= higher context capacity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5687568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Open borders keep output clean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06  Role-Based Specialist Diamonds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A500"/>
                </a:solidFill>
              </a:rPr>
              <a:t>Specialists are trained on cognitive ROLES, not knowledge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94960" cy="34747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161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❌  Category Specialist  (brittle)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585216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21615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✅  Role Specialist  (generalises)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5394960" cy="420624"/>
          </a:xfrm>
          <a:prstGeom prst="rect">
            <a:avLst/>
          </a:prstGeom>
          <a:solidFill>
            <a:srgbClr val="20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7335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Trained on: science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600200"/>
            <a:ext cx="5852160" cy="420624"/>
          </a:xfrm>
          <a:prstGeom prst="rect">
            <a:avLst/>
          </a:prstGeom>
          <a:solidFill>
            <a:srgbClr val="05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67335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Trained on: analytical content across ALL domains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5394960" cy="420624"/>
          </a:xfrm>
          <a:prstGeom prst="rect">
            <a:avLst/>
          </a:prstGeom>
          <a:solidFill>
            <a:srgbClr val="18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3055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Fails on: new science not in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057400"/>
            <a:ext cx="5852160" cy="420624"/>
          </a:xfrm>
          <a:prstGeom prst="rect">
            <a:avLst/>
          </a:prstGeom>
          <a:solidFill>
            <a:srgbClr val="031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213055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Generalises to: any task requiring analytical thinking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14600"/>
            <a:ext cx="5394960" cy="420624"/>
          </a:xfrm>
          <a:prstGeom prst="rect">
            <a:avLst/>
          </a:prstGeom>
          <a:solidFill>
            <a:srgbClr val="20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58775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Router asks: "what topic is this?"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514600"/>
            <a:ext cx="5852160" cy="420624"/>
          </a:xfrm>
          <a:prstGeom prst="rect">
            <a:avLst/>
          </a:prstGeom>
          <a:solidFill>
            <a:srgbClr val="05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58775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Router asks: "what thinking style is needed?"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71800"/>
            <a:ext cx="5394960" cy="420624"/>
          </a:xfrm>
          <a:prstGeom prst="rect">
            <a:avLst/>
          </a:prstGeom>
          <a:solidFill>
            <a:srgbClr val="18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04495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Brittle at domain borders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971800"/>
            <a:ext cx="5852160" cy="420624"/>
          </a:xfrm>
          <a:prstGeom prst="rect">
            <a:avLst/>
          </a:prstGeom>
          <a:solidFill>
            <a:srgbClr val="031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04495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Robust — roles transfer across all domains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3566160"/>
            <a:ext cx="11274552" cy="0"/>
          </a:xfrm>
          <a:prstGeom prst="line">
            <a:avLst/>
          </a:prstGeom>
          <a:ln w="127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74320" y="3703320"/>
            <a:ext cx="116128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7307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7307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W:N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7307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Nail 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73075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Cognitive Style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114800"/>
            <a:ext cx="11612880" cy="384048"/>
          </a:xfrm>
          <a:prstGeom prst="rect">
            <a:avLst/>
          </a:prstGeom>
          <a:solidFill>
            <a:srgbClr val="0D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169663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Analyst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169663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1:1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16966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Thick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169663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Logical, step-by-step deduction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526280"/>
            <a:ext cx="11612880" cy="384048"/>
          </a:xfrm>
          <a:prstGeom prst="rect">
            <a:avLst/>
          </a:prstGeom>
          <a:solidFill>
            <a:srgbClr val="08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5811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Generator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458114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3:1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5811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581144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Creative, broad exploration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937760"/>
            <a:ext cx="11612880" cy="384048"/>
          </a:xfrm>
          <a:prstGeom prst="rect">
            <a:avLst/>
          </a:prstGeom>
          <a:solidFill>
            <a:srgbClr val="0D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9926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Synthesizer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499262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1:3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99262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992624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Compression, abstraction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349240"/>
            <a:ext cx="11612880" cy="384048"/>
          </a:xfrm>
          <a:prstGeom prst="rect">
            <a:avLst/>
          </a:prstGeom>
          <a:solidFill>
            <a:srgbClr val="08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404103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Precisionist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08960" y="5404103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1:4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540410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V.Thick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5404103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Exact recall, minimal inference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760720"/>
            <a:ext cx="11612880" cy="384048"/>
          </a:xfrm>
          <a:prstGeom prst="rect">
            <a:avLst/>
          </a:prstGeom>
          <a:solidFill>
            <a:srgbClr val="0D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5815583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Narrator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5815583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2:2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581558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Mixed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5815583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Sequential explanation, teaching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6172200"/>
            <a:ext cx="11612880" cy="384048"/>
          </a:xfrm>
          <a:prstGeom prst="rect">
            <a:avLst/>
          </a:prstGeom>
          <a:solidFill>
            <a:srgbClr val="08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2270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Conversationalist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08960" y="62270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2:1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22706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6227064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Context-aware, tone-matching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07  Routing Strategy — Selecting the Right Specialist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55778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Parallel  (≤ 3 specialists)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Run all N diamonds simultaneously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Same input tokens → each specialist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9397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Winner = highest retained ball-mass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6946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 (balls falling off = out-of-role signal)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4495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Cost: N ×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Best when N is small (2–3)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23360"/>
            <a:ext cx="5577840" cy="347472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050791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AE9FF"/>
                </a:solidFill>
              </a:rPr>
              <a:t>ℹ  retained mass = confidence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685800"/>
            <a:ext cx="557784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71323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Pre-Selector Diamond  (&gt; 3 specialists)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1430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Small routing diamond runs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1848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Output slots = specialist 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9397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Slot width ∝ activation frequency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6946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Winner gets input re-dropped identically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4495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Cost: R + S   (R ≈ 0.3 × S typically)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2044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Best when N &gt; (R/S) + 1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023360"/>
            <a:ext cx="5577840" cy="347472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050791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AE9FF"/>
                </a:solidFill>
              </a:rPr>
              <a:t>ℹ  soft routing: border landing → two specialists activate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4572000"/>
            <a:ext cx="11274552" cy="0"/>
          </a:xfrm>
          <a:prstGeom prst="line">
            <a:avLst/>
          </a:prstGeom>
          <a:ln w="127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5760" y="4663440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7799"/>
                </a:solidFill>
              </a:rPr>
              <a:t>EM Bootstrap (no labels):  train all specialists blindly → measure winner per sample → auto-label → train router → iterate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1206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Manual role labeling recommended for production — role = cognitive style, not topic domain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08  Mathematical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11612880" cy="5349240"/>
          </a:xfrm>
          <a:prstGeom prst="rect">
            <a:avLst/>
          </a:prstGeom>
          <a:solidFill>
            <a:srgbClr val="05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777240"/>
            <a:ext cx="1828800" cy="384048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32103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832103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Ball i at row r:   (x_i,  v_i,  m_i)   — position, velocity, mass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25295"/>
            <a:ext cx="1828800" cy="384048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Nail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280160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Nail (r,c):        tilt ∈ [-1,1]   ·   diameter ∈ (0,1]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73352"/>
            <a:ext cx="1828800" cy="384048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728216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Deflection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728216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Δx_i  =  tilt[r,c]  ·  α  /  m_i          (inertia: heavier → less deflect)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21408"/>
            <a:ext cx="1828800" cy="384048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17627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Gravity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176272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F_ij  =  G · m_i · m_j / (|x_i−x_j|² + ε)   for all pairs  i≠j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69464"/>
            <a:ext cx="1828800" cy="384048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62432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Collision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624328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if |x_i−x_j| &lt; r_c:  Δv = elastic_exchange(m_i, m_j, v_i, v_j)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17520"/>
            <a:ext cx="1828800" cy="384048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07238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Diamond border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072384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width(r)  =  w_0 + r·e   [r≤W]     width(r)  =  w_max − (r−W)·c   [r&gt;W]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465576"/>
            <a:ext cx="1828800" cy="384048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52044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Ball exits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3520440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if  x_i &lt; left(r)  or  x_i &gt; right(r):  remove ball 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913631"/>
            <a:ext cx="1828800" cy="384048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968495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Magnet field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3968495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f(r,x,T)  =  (T−x) · phase_scale(r)      [fan out in W, focus in N]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61688"/>
            <a:ext cx="1828800" cy="384048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416551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Nail update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16551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tilt[r,c] += η · m_i · f(r, x_i, target) · (1 / diameter[r,c])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809744"/>
            <a:ext cx="1828800" cy="384048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864607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864607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score[slot]  =  Σ_i  m_i · 𝟙[x_i ∈ slot_range]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257800"/>
            <a:ext cx="1828800" cy="384048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31266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Winner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5312664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ŷ  =  argmax( score 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09  GPU / CPU Parallelism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85800"/>
            <a:ext cx="57607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71323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GPU  — Massively Parallel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60720" cy="347472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887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Ball trajectories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52704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</a:rPr>
              <a:t>Each ball = one thread. All balls in same row computed in parallel.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03120"/>
            <a:ext cx="5760720" cy="347472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148839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Nail updates (per row)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8716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</a:rPr>
              <a:t>All nails in same row are independent. SIMD vectorise across columns.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063240"/>
            <a:ext cx="5760720" cy="347472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1089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Ball-ball gravity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44728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</a:rPr>
              <a:t>Sparse distance matrix; compute only within proximity band. O(n·k) not O(n²).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023360"/>
            <a:ext cx="5760720" cy="347472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40690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Output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40740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</a:rPr>
              <a:t>Parallel reduce: each thread accumulates mass into slot bin.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983480"/>
            <a:ext cx="5760720" cy="347472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0292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Batching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536752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</a:rPr>
              <a:t>Multiple training samples run simultaneously — each sample is one warp.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79" y="685800"/>
            <a:ext cx="576072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19" y="71323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CPU  — Sequential / SIMD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79" y="1143000"/>
            <a:ext cx="5760720" cy="347472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19" y="11887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Vocabulary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19" y="152704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</a:rPr>
              <a:t>Pre-training frequency count. Single pass over corpus. Parallel file reads.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79" y="2103120"/>
            <a:ext cx="5760720" cy="347472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19" y="2148839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Nail init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19" y="248716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</a:rPr>
              <a:t>Random or frequency-informed tilt init. One-time cost.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79" y="3063240"/>
            <a:ext cx="5760720" cy="347472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19" y="31089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Router diamond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19" y="344728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</a:rPr>
              <a:t>Shallower grid. Runs on CPU between GPU specialist calls.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79" y="4023360"/>
            <a:ext cx="5760720" cy="347472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19" y="40690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Checkpointing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19" y="440740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</a:rPr>
              <a:t>Nail state saved to disk after each epoch. Nail arrays are just float matrices.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79" y="4983480"/>
            <a:ext cx="5760720" cy="347472"/>
          </a:xfrm>
          <a:prstGeom prst="rect">
            <a:avLst/>
          </a:prstGeom>
          <a:solidFill>
            <a:srgbClr val="09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19" y="50292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Validation 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19" y="536752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9FF"/>
                </a:solidFill>
              </a:rPr>
              <a:t>Accuracy, ball-mass retention ratio — simple scalar ops.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6172200"/>
            <a:ext cx="11274552" cy="0"/>
          </a:xfrm>
          <a:prstGeom prst="line">
            <a:avLst/>
          </a:prstGeom>
          <a:ln w="127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65760" y="62362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6D6A0"/>
                </a:solidFill>
              </a:rPr>
              <a:t>Key advantage:  no activation graph storage (no backprop) → GPU memory is used only for nail state + ball positions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10  C# Application — PRM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85800"/>
            <a:ext cx="283464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7132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🏋 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2834640" cy="402336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612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Forward pass per sample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2834640" cy="402336"/>
          </a:xfrm>
          <a:prstGeom prst="rect">
            <a:avLst/>
          </a:prstGeom>
          <a:solidFill>
            <a:srgbClr val="0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184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Nail tilt += magnetic update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29967"/>
            <a:ext cx="2834640" cy="402336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0756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Ball-ball physics 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87168"/>
            <a:ext cx="2834640" cy="402336"/>
          </a:xfrm>
          <a:prstGeom prst="rect">
            <a:avLst/>
          </a:prstGeom>
          <a:solidFill>
            <a:srgbClr val="0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5328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Periodic checkpoint save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685800"/>
            <a:ext cx="28346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7132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🧪 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115568"/>
            <a:ext cx="2834640" cy="402336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1612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Forward pass, no updates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572768"/>
            <a:ext cx="2834640" cy="402336"/>
          </a:xfrm>
          <a:prstGeom prst="rect">
            <a:avLst/>
          </a:prstGeom>
          <a:solidFill>
            <a:srgbClr val="0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6184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Accuracy = winner == label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029967"/>
            <a:ext cx="2834640" cy="402336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20756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Ball-mass retention reported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487168"/>
            <a:ext cx="2834640" cy="402336"/>
          </a:xfrm>
          <a:prstGeom prst="rect">
            <a:avLst/>
          </a:prstGeom>
          <a:solidFill>
            <a:srgbClr val="0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5328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No magnet active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685800"/>
            <a:ext cx="283464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79" y="7132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🎛  Tune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115568"/>
            <a:ext cx="2834640" cy="402336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11612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Like Training, lower 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572768"/>
            <a:ext cx="2834640" cy="402336"/>
          </a:xfrm>
          <a:prstGeom prst="rect">
            <a:avLst/>
          </a:prstGeom>
          <a:solidFill>
            <a:srgbClr val="0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16184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Small fine-tune dataset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029967"/>
            <a:ext cx="2834640" cy="402336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20756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Specialist role refinement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487168"/>
            <a:ext cx="2834640" cy="402336"/>
          </a:xfrm>
          <a:prstGeom prst="rect">
            <a:avLst/>
          </a:prstGeom>
          <a:solidFill>
            <a:srgbClr val="0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79" y="25328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Preserve thick-nail routes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685800"/>
            <a:ext cx="2834640" cy="384048"/>
          </a:xfrm>
          <a:prstGeom prst="rect">
            <a:avLst/>
          </a:prstGeom>
          <a:solidFill>
            <a:srgbClr val="CA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7132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✅  Val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1115568"/>
            <a:ext cx="2834640" cy="402336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11612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Validation set evaluation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1572768"/>
            <a:ext cx="2834640" cy="402336"/>
          </a:xfrm>
          <a:prstGeom prst="rect">
            <a:avLst/>
          </a:prstGeom>
          <a:solidFill>
            <a:srgbClr val="0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16184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Per-role retention ratio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2029967"/>
            <a:ext cx="2834640" cy="402336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20756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Perplexity equivalent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2487168"/>
            <a:ext cx="2834640" cy="402336"/>
          </a:xfrm>
          <a:prstGeom prst="rect">
            <a:avLst/>
          </a:prstGeom>
          <a:solidFill>
            <a:srgbClr val="0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25328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Outputs confusion matrix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57200" y="3063240"/>
            <a:ext cx="11274552" cy="0"/>
          </a:xfrm>
          <a:prstGeom prst="line">
            <a:avLst/>
          </a:prstGeom>
          <a:ln w="127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576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Core Components: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66160"/>
            <a:ext cx="3749039" cy="548640"/>
          </a:xfrm>
          <a:prstGeom prst="rect">
            <a:avLst/>
          </a:prstGeom>
          <a:solidFill>
            <a:srgbClr val="09284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675887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VocabularyBuilder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79" y="3566160"/>
            <a:ext cx="3749039" cy="548640"/>
          </a:xfrm>
          <a:prstGeom prst="rect">
            <a:avLst/>
          </a:prstGeom>
          <a:solidFill>
            <a:srgbClr val="09284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19" y="3675887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DiamondGrid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19" y="3566160"/>
            <a:ext cx="3749039" cy="548640"/>
          </a:xfrm>
          <a:prstGeom prst="rect">
            <a:avLst/>
          </a:prstGeom>
          <a:solidFill>
            <a:srgbClr val="09284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59" y="3675887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BallSimulator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224528"/>
            <a:ext cx="3749039" cy="548640"/>
          </a:xfrm>
          <a:prstGeom prst="rect">
            <a:avLst/>
          </a:prstGeom>
          <a:solidFill>
            <a:srgbClr val="09284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79" y="43342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MagnetField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97679" y="4224528"/>
            <a:ext cx="3749039" cy="548640"/>
          </a:xfrm>
          <a:prstGeom prst="rect">
            <a:avLst/>
          </a:prstGeom>
          <a:solidFill>
            <a:srgbClr val="09284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19" y="43342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PRMEngine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19" y="4224528"/>
            <a:ext cx="3749039" cy="548640"/>
          </a:xfrm>
          <a:prstGeom prst="rect">
            <a:avLst/>
          </a:prstGeom>
          <a:solidFill>
            <a:srgbClr val="09284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6759" y="43342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SpecialistRouter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57200" y="5669280"/>
            <a:ext cx="11274552" cy="0"/>
          </a:xfrm>
          <a:prstGeom prst="line">
            <a:avLst/>
          </a:prstGeom>
          <a:ln w="127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65760" y="574243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6D6A0"/>
                </a:solidFill>
              </a:rPr>
              <a:t>Inference (all modes):  diamond nails fixed → balls fall freely → winner slot = output.  No magnet, no updates.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11  Open Questions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5486400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Open Design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□  Grid depth — does depth = abstraction level?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□  Nail init — random, uniform, or frequency-informed?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4825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□  Force decay — how fast does gravity drop off?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2374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□  Collision elasticity — perfectly elastic or damped?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992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□  Training stabilisation — prevent tilt explosion?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7472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□  Nail diameter — fixed or also learnable?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5020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□  How many roles cover most language tasks?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2569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□  Long context — distant tokens' gravity too weak?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685800"/>
            <a:ext cx="576072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71323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09728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①  Formalise math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31673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7799"/>
                </a:solidFill>
              </a:rPr>
              <a:t>   Translate all physics to GPU-parallel matrix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572768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②  C# PRM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79222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7799"/>
                </a:solidFill>
              </a:rPr>
              <a:t>   DiamondGrid + BallSimulator + MagnetField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04825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③  Training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6771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7799"/>
                </a:solidFill>
              </a:rPr>
              <a:t>   Single forward pass with live nail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52374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④  Vocabulary builder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74320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7799"/>
                </a:solidFill>
              </a:rPr>
              <a:t>   Frequency-ranked token table from corpus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99923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⑤  Small-scale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218688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7799"/>
                </a:solidFill>
              </a:rPr>
              <a:t>   Validate next-token prediction on tiny corpus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47472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⑥  Role specialisation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69417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7799"/>
                </a:solidFill>
              </a:rPr>
              <a:t>   Train 2–3 role diamonds, compare output 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950208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⑦  GPU acceleration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16966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7799"/>
                </a:solidFill>
              </a:rPr>
              <a:t>   ILGPU or compute shaders for ball simulation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42569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⑧  Benchmark vs Transformer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64515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7799"/>
                </a:solidFill>
              </a:rPr>
              <a:t>   Training time &amp; accuracy at equivalent scale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D8"/>
                </a:solidFill>
              </a:rPr>
              <a:t>PRM  —  Physical Routing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CAE9FF"/>
                </a:solidFill>
              </a:rPr>
              <a:t>Tokens are balls.  The model is a grid of nails.  The answer is a magnet.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2377440"/>
            <a:ext cx="11274552" cy="0"/>
          </a:xfrm>
          <a:prstGeom prst="line">
            <a:avLst/>
          </a:prstGeom>
          <a:ln w="127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2560320"/>
            <a:ext cx="5577840" cy="1097280"/>
          </a:xfrm>
          <a:prstGeom prst="rect">
            <a:avLst/>
          </a:prstGeom>
          <a:solidFill>
            <a:srgbClr val="0A24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✦  No backpropagation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Nails update locally as each ball passes — one forward phase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560320"/>
            <a:ext cx="5577840" cy="1097280"/>
          </a:xfrm>
          <a:prstGeom prst="rect">
            <a:avLst/>
          </a:prstGeom>
          <a:solidFill>
            <a:srgbClr val="0A24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51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✦  No attention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0175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Token relationships emerge from gravitational attraction + collision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60"/>
            <a:ext cx="5577840" cy="1097280"/>
          </a:xfrm>
          <a:prstGeom prst="rect">
            <a:avLst/>
          </a:prstGeom>
          <a:solidFill>
            <a:srgbClr val="0A24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✦  No positional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51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Ball entry x-position = sequence position — geometric and free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794760"/>
            <a:ext cx="5577840" cy="1097280"/>
          </a:xfrm>
          <a:prstGeom prst="rect">
            <a:avLst/>
          </a:prstGeom>
          <a:solidFill>
            <a:srgbClr val="0A24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886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✦  Built-in language prior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51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Vocabulary slot width = frequency — common words easier to produce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29200"/>
            <a:ext cx="5577840" cy="1097280"/>
          </a:xfrm>
          <a:prstGeom prst="rect">
            <a:avLst/>
          </a:prstGeom>
          <a:solidFill>
            <a:srgbClr val="0A24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206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✦  Natural sparsity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86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Irrelevant balls fall off diamond edges — no dropout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5029200"/>
            <a:ext cx="5577840" cy="1097280"/>
          </a:xfrm>
          <a:prstGeom prst="rect">
            <a:avLst/>
          </a:prstGeom>
          <a:solidFill>
            <a:srgbClr val="0A24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1206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✦  Role specialists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486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Diamond geometry encodes cognitive style — generalises across domains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7799"/>
                </a:solidFill>
              </a:rPr>
              <a:t>github.com/sppfizer/thinker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